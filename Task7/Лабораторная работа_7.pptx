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77" r:id="rId2"/>
    <p:sldId id="273" r:id="rId3"/>
    <p:sldId id="274" r:id="rId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183" autoAdjust="0"/>
  </p:normalViewPr>
  <p:slideViewPr>
    <p:cSldViewPr snapToGrid="0">
      <p:cViewPr varScale="1">
        <p:scale>
          <a:sx n="94" d="100"/>
          <a:sy n="94" d="100"/>
        </p:scale>
        <p:origin x="612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1AFCD2-5E5E-408A-BB09-9973580E47AC}" type="datetimeFigureOut">
              <a:rPr lang="ru-RU" smtClean="0"/>
              <a:pPr/>
              <a:t>01.04.2026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8CA14B-309E-4393-83C5-E039D9BBDDD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125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pPr/>
              <a:t>01.04.2026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1222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pPr/>
              <a:t>01.04.2026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8312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pPr/>
              <a:t>01.04.2026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1364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pPr/>
              <a:t>01.04.2026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2282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pPr/>
              <a:t>01.04.2026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089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pPr/>
              <a:t>01.04.2026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6111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pPr/>
              <a:t>01.04.2026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5939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pPr/>
              <a:t>01.04.2026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7675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pPr/>
              <a:t>01.04.2026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8373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pPr/>
              <a:t>01.04.2026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5055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F884C-FC3E-4C65-A52B-D247E61FA91A}" type="datetimeFigureOut">
              <a:rPr lang="ru-RU" smtClean="0"/>
              <a:pPr/>
              <a:t>01.04.2026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68106C-3361-4921-ABE5-EFBFA35F5BA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8300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CF884C-FC3E-4C65-A52B-D247E61FA91A}" type="datetimeFigureOut">
              <a:rPr lang="ru-RU" smtClean="0"/>
              <a:pPr/>
              <a:t>01.04.2026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68106C-3361-4921-ABE5-EFBFA35F5BA1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0629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598" y="1019424"/>
            <a:ext cx="3095331" cy="22866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0" y="220927"/>
            <a:ext cx="88757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Реализовать сигнал с единичными выбросами, рис. 1. Реализовать метод для исключения выбросов в сигнале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через порог стандартного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отклонения.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Сравнить данный метод фильтрации с медианным фильтром.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Представить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очищенный сигнал, рис.2.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019424"/>
            <a:ext cx="3024104" cy="227506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0" y="3261361"/>
            <a:ext cx="887571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Реализовать сигнал,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который содержит области с высоким уровнем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шума, рис.3.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 может быть сделано путем добавления случайного шума к основному сигналу в определенных интервалах времени.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Напишите метод для очистки сигнала с помощью оконного скользящего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среднеквадратичного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отклонения (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Outlier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windows via sliding 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RMS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рис.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5" y="4363326"/>
            <a:ext cx="3024104" cy="2469519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5598" y="4363326"/>
            <a:ext cx="3300782" cy="2469519"/>
          </a:xfrm>
          <a:prstGeom prst="rect">
            <a:avLst/>
          </a:prstGeom>
        </p:spPr>
      </p:pic>
      <p:sp>
        <p:nvSpPr>
          <p:cNvPr id="15" name="Прямоугольник 14"/>
          <p:cNvSpPr/>
          <p:nvPr/>
        </p:nvSpPr>
        <p:spPr>
          <a:xfrm>
            <a:off x="3901928" y="3015663"/>
            <a:ext cx="7569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Рис. 1.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7749853" y="3015663"/>
            <a:ext cx="7569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Рис.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3901928" y="6542889"/>
            <a:ext cx="7569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Рис.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7993112" y="6542889"/>
            <a:ext cx="7569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Рис.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66" y="-39548"/>
            <a:ext cx="2822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 smtClean="0"/>
              <a:t>Лабораторная работа № </a:t>
            </a:r>
            <a:r>
              <a:rPr lang="ru-RU" b="1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384289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70843" y="115527"/>
            <a:ext cx="89694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спектральной интерполяции сигналов.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Данный метод позволяет восстановить часть сигнала, которая была потеряна или удалена. </a:t>
            </a:r>
          </a:p>
        </p:txBody>
      </p:sp>
      <p:grpSp>
        <p:nvGrpSpPr>
          <p:cNvPr id="9" name="Группа 8"/>
          <p:cNvGrpSpPr/>
          <p:nvPr/>
        </p:nvGrpSpPr>
        <p:grpSpPr>
          <a:xfrm>
            <a:off x="180155" y="714635"/>
            <a:ext cx="4950691" cy="2079518"/>
            <a:chOff x="360218" y="2752437"/>
            <a:chExt cx="6772541" cy="2969404"/>
          </a:xfrm>
        </p:grpSpPr>
        <p:pic>
          <p:nvPicPr>
            <p:cNvPr id="10" name="Рисунок 9"/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360218" y="2752437"/>
              <a:ext cx="6772541" cy="2927927"/>
            </a:xfrm>
            <a:prstGeom prst="rect">
              <a:avLst/>
            </a:prstGeom>
          </p:spPr>
        </p:pic>
        <p:sp>
          <p:nvSpPr>
            <p:cNvPr id="11" name="Двойная стрелка влево/вправо 10"/>
            <p:cNvSpPr/>
            <p:nvPr/>
          </p:nvSpPr>
          <p:spPr>
            <a:xfrm>
              <a:off x="4368802" y="3498907"/>
              <a:ext cx="639192" cy="210410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Двойная стрелка влево/вправо 11"/>
            <p:cNvSpPr/>
            <p:nvPr/>
          </p:nvSpPr>
          <p:spPr>
            <a:xfrm>
              <a:off x="3091458" y="3104689"/>
              <a:ext cx="639192" cy="210410"/>
            </a:xfrm>
            <a:prstGeom prst="left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025606" y="5194461"/>
              <a:ext cx="4666722" cy="5273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 smtClean="0">
                  <a:solidFill>
                    <a:srgbClr val="FFFF00"/>
                  </a:solidFill>
                </a:rPr>
                <a:t>Длина окон должна совпадать</a:t>
              </a:r>
              <a:endParaRPr lang="ru-RU" dirty="0">
                <a:solidFill>
                  <a:srgbClr val="FFFF00"/>
                </a:solidFill>
              </a:endParaRPr>
            </a:p>
          </p:txBody>
        </p:sp>
      </p:grpSp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86025" y="2821988"/>
            <a:ext cx="4963856" cy="1116136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7274" y="695249"/>
            <a:ext cx="3736667" cy="325503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9878" y="3988497"/>
            <a:ext cx="8796322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реализации метода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Для реализации сигнала рассмотрите сигнал из предыдущего пункта 2, в котором Вы уже удалили часть сигнала с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помощью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скользящего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среднеквадратичного отклонения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Необходимо восстановить потерянную часть сигнала с помощью спектральной интерполяции.</a:t>
            </a:r>
          </a:p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задать  размер окна по временной области для которых будет определяться спектр. Размер окон для правой и левой части должны совпадать. </a:t>
            </a:r>
          </a:p>
          <a:p>
            <a:pPr algn="just">
              <a:buFontTx/>
              <a:buChar char="-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определить спектр сигнала до разрыва и после разрыва.</a:t>
            </a:r>
          </a:p>
          <a:p>
            <a:pPr algn="just">
              <a:buFontTx/>
              <a:buChar char="-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осуществить усреднение спектров сигналов в правой и левой области.</a:t>
            </a:r>
          </a:p>
          <a:p>
            <a:pPr algn="just">
              <a:buFontTx/>
              <a:buChar char="-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 помощью обратного преобразования Фурье восстановить утерянную часть сигнала.</a:t>
            </a:r>
          </a:p>
          <a:p>
            <a:pPr algn="just">
              <a:buFontTx/>
              <a:buChar char="-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сшить границы с помощью линейной интерполяции. </a:t>
            </a:r>
          </a:p>
          <a:p>
            <a:pPr algn="just">
              <a:buFontTx/>
              <a:buChar char="-"/>
            </a:pP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работы алгоритма представлен на Рис.5. 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7935572" y="3375236"/>
            <a:ext cx="7569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Рис.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7518" y="3879807"/>
            <a:ext cx="88350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В результате записи сигналов с 3-х различных датчиков были записаны данные с различной частотой дискретизации, рис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(а). Привести все сигналы к единой частоте дискретизации, как представлено на рис.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(б). В качестве сигналов можно выбрать три косинуса с различной частотой дискретизации, например 10, 35 и 80 Гц.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826" y="4710945"/>
            <a:ext cx="2514599" cy="204228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3451861" y="1960246"/>
            <a:ext cx="2209799" cy="988367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1101" y="4742191"/>
            <a:ext cx="2359377" cy="1990725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5661002" y="2599901"/>
            <a:ext cx="7569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Рис.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575" y="28575"/>
            <a:ext cx="88674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 понижения/повышения дискретности сигнала в </a:t>
            </a:r>
            <a:r>
              <a:rPr lang="en-US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ru-RU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раз.</a:t>
            </a:r>
          </a:p>
          <a:p>
            <a:pPr algn="just"/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Понижение дискретности сигнала можно осуществить двумя методами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уменьшением числа точек в сигнале в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 (неправильный).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Замечание</a:t>
            </a:r>
            <a:r>
              <a:rPr lang="en-US" sz="1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увеличения дискретности сигнала данным способом можно воспользоваться и он будет правильным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уменьшением дискретности сигнала в 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 (правильный) с помощью определения новой частоты Найквиста, которая будет соответствовать новой дискретности сигнала</a:t>
            </a:r>
            <a:r>
              <a:rPr lang="en-US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Понижение дискретности сигнала осуществляется в три этапа, рис. 6. В качестве исходного сигнала можно выбрать сигнал косинуса с двумя частотами, например, 50 и 100 Гц. 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959" y="1956286"/>
            <a:ext cx="3031298" cy="1954680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5222852" y="6213387"/>
            <a:ext cx="994183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Рис.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(б).</a:t>
            </a:r>
            <a:endParaRPr lang="ru-RU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2679677" y="6213387"/>
            <a:ext cx="981359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Рис. </a:t>
            </a:r>
            <a:r>
              <a:rPr lang="ru-RU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ru-RU" sz="15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(а).</a:t>
            </a:r>
            <a:endParaRPr lang="ru-RU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660</TotalTime>
  <Words>428</Words>
  <Application>Microsoft Office PowerPoint</Application>
  <PresentationFormat>Экран (4:3)</PresentationFormat>
  <Paragraphs>28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Igor Kozulin</dc:creator>
  <cp:lastModifiedBy>1</cp:lastModifiedBy>
  <cp:revision>221</cp:revision>
  <dcterms:created xsi:type="dcterms:W3CDTF">2022-08-27T14:42:32Z</dcterms:created>
  <dcterms:modified xsi:type="dcterms:W3CDTF">2026-04-01T12:48:42Z</dcterms:modified>
</cp:coreProperties>
</file>