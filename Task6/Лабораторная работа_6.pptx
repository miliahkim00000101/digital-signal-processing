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0" r:id="rId2"/>
    <p:sldId id="272" r:id="rId3"/>
    <p:sldId id="275" r:id="rId4"/>
    <p:sldId id="276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183" autoAdjust="0"/>
  </p:normalViewPr>
  <p:slideViewPr>
    <p:cSldViewPr snapToGrid="0">
      <p:cViewPr>
        <p:scale>
          <a:sx n="100" d="100"/>
          <a:sy n="100" d="100"/>
        </p:scale>
        <p:origin x="-1908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AFCD2-5E5E-408A-BB09-9973580E47AC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CA14B-309E-4393-83C5-E039D9BBDD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2812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5122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7831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4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6228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40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4611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0593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767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6837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3505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683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884C-FC3E-4C65-A52B-D247E61FA91A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5062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0649" y="466046"/>
            <a:ext cx="8875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Реализовать усреднение зашумленного сигнала по формуле 1. Результат усреднения представлен на рис.1. Вывести спектр усредненного и зашумленного сигнала. Объяснить результат.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31802" y="1658831"/>
            <a:ext cx="8082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230" y="106756"/>
            <a:ext cx="282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Лабораторная работа № </a:t>
            </a:r>
            <a:r>
              <a:rPr lang="ru-RU" b="1" dirty="0"/>
              <a:t>6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" y="1102360"/>
            <a:ext cx="1655403" cy="528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4529" y="1102679"/>
            <a:ext cx="2523171" cy="20048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487522" y="2824691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889" y="3371171"/>
            <a:ext cx="8875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Реализовать усреднение зашумленного сигнала по формуле 2. Результат усреднения представлен на рис.2. Вывести спектр усредненного и зашумленного сигнала. Сопоставить усреднение по Гауссу и среднему значению, как это сделано на рис.2. Объяснить результат. 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86912" y="4282094"/>
            <a:ext cx="2324765" cy="1884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7720" y="4299846"/>
            <a:ext cx="1225237" cy="63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17502" y="4929716"/>
            <a:ext cx="886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Фор. 2.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34727" y="4280968"/>
            <a:ext cx="2465133" cy="19408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8" name="Прямоугольник 17"/>
          <p:cNvSpPr/>
          <p:nvPr/>
        </p:nvSpPr>
        <p:spPr>
          <a:xfrm>
            <a:off x="6567782" y="5882216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008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9699" y="117431"/>
            <a:ext cx="8875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Воспользоваться усреднением по Гауссу для обработки сигнала, состоящего из всплесков пиков. Всплеск каждого пика является случайно величиной. Амплитуда каждого пика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рис.3.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8205" y="774552"/>
            <a:ext cx="3135128" cy="25306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5283" y="744855"/>
            <a:ext cx="3419473" cy="25507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2155802" y="3306656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592422" y="3289511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4.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8749" y="3624536"/>
            <a:ext cx="8875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Реализовать медианный фильтр для очистки сигнала от случайных всплесков в сигнала. В этом случае амплитуда всплеска сигнала уже не является постоянной и является случайной величиной.  Результат обработки представлен оранжевой линий на рис. 4.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01027" y="5032989"/>
            <a:ext cx="1729621" cy="1325901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82127" y="5028408"/>
            <a:ext cx="2447876" cy="1300002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24464" y="5019110"/>
            <a:ext cx="2475915" cy="13397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3989" y="4361771"/>
            <a:ext cx="8822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Замечание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фильтрацию лучше в два этапа. Вначале ввести порог, выше которого пик будет удаляться, затем применить медианный фильтр.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51271"/>
            <a:ext cx="5120139" cy="2730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207"/>
            <a:ext cx="8875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Реализовать метод исключения линейного тренда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сигнала с использованием критерия Байесовской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информации (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BIC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на рис. 5.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400528" y="3381414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5.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20139" y="651270"/>
            <a:ext cx="4023598" cy="194637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4627" y="3547254"/>
            <a:ext cx="4139629" cy="3099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4793" y="2550417"/>
            <a:ext cx="3848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Количеством параметров 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дели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будет являться массив выбранных степеней полиномов.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4165183"/>
            <a:ext cx="4709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Представить спектр исходного сигнала и сигнала в котором был исключен тренд, объяснить результат сравнения.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334256" y="6069750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33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8869" y="4856035"/>
            <a:ext cx="1697355" cy="386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8268" y="1878330"/>
            <a:ext cx="15525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4935" y="4397694"/>
            <a:ext cx="1972140" cy="450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/>
          <a:srcRect r="7677" b="10001"/>
          <a:stretch>
            <a:fillRect/>
          </a:stretch>
        </p:blipFill>
        <p:spPr>
          <a:xfrm>
            <a:off x="5225251" y="1310640"/>
            <a:ext cx="3791557" cy="192786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71120"/>
            <a:ext cx="601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Очистка ЭЭГ от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артефактов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регрессии</a:t>
            </a:r>
            <a:endParaRPr lang="ru-RU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73" y="375920"/>
            <a:ext cx="53091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Исходные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данные, файл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templateProjection.mat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содержащий:</a:t>
            </a:r>
          </a:p>
          <a:p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EEGdat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матрицу ЭЭГ (временные отсчёты × пробы);</a:t>
            </a:r>
          </a:p>
          <a:p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eyedat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матрица ЭОГ(артефакт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временные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отсчёты×пробы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timevec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вектор времени (</a:t>
            </a:r>
            <a:r>
              <a:rPr lang="ru-RU" sz="1500" dirty="0" err="1">
                <a:latin typeface="Times New Roman" pitchFamily="18" charset="0"/>
                <a:cs typeface="Times New Roman" pitchFamily="18" charset="0"/>
              </a:rPr>
              <a:t>мс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115026" y="3306408"/>
            <a:ext cx="3886099" cy="305438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5626571" y="407208"/>
            <a:ext cx="3441229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# load dataset</a:t>
            </a:r>
          </a:p>
          <a:p>
            <a:r>
              <a:rPr lang="en-US" sz="1000" dirty="0" err="1">
                <a:latin typeface="Consolas" panose="020B0609020204030204" pitchFamily="49" charset="0"/>
              </a:rPr>
              <a:t>matdat</a:t>
            </a:r>
            <a:r>
              <a:rPr lang="en-US" sz="1000" dirty="0">
                <a:latin typeface="Consolas" panose="020B0609020204030204" pitchFamily="49" charset="0"/>
              </a:rPr>
              <a:t> = </a:t>
            </a:r>
            <a:r>
              <a:rPr lang="en-US" sz="1000" dirty="0" err="1">
                <a:latin typeface="Consolas" panose="020B0609020204030204" pitchFamily="49" charset="0"/>
              </a:rPr>
              <a:t>sio.loadmat</a:t>
            </a:r>
            <a:r>
              <a:rPr lang="en-US" sz="1000" dirty="0">
                <a:latin typeface="Consolas" panose="020B0609020204030204" pitchFamily="49" charset="0"/>
              </a:rPr>
              <a:t>('</a:t>
            </a:r>
            <a:r>
              <a:rPr lang="en-US" sz="1000" dirty="0" err="1">
                <a:latin typeface="Consolas" panose="020B0609020204030204" pitchFamily="49" charset="0"/>
              </a:rPr>
              <a:t>templateProjection.mat</a:t>
            </a:r>
            <a:r>
              <a:rPr lang="en-US" sz="1000" dirty="0">
                <a:latin typeface="Consolas" panose="020B0609020204030204" pitchFamily="49" charset="0"/>
              </a:rPr>
              <a:t>')</a:t>
            </a:r>
          </a:p>
          <a:p>
            <a:r>
              <a:rPr lang="en-US" sz="1000" dirty="0" err="1">
                <a:latin typeface="Consolas" panose="020B0609020204030204" pitchFamily="49" charset="0"/>
              </a:rPr>
              <a:t>EEGdat</a:t>
            </a:r>
            <a:r>
              <a:rPr lang="en-US" sz="1000" dirty="0">
                <a:latin typeface="Consolas" panose="020B0609020204030204" pitchFamily="49" charset="0"/>
              </a:rPr>
              <a:t> = </a:t>
            </a:r>
            <a:r>
              <a:rPr lang="en-US" sz="1000" dirty="0" err="1">
                <a:latin typeface="Consolas" panose="020B0609020204030204" pitchFamily="49" charset="0"/>
              </a:rPr>
              <a:t>matdat</a:t>
            </a:r>
            <a:r>
              <a:rPr lang="en-US" sz="1000" dirty="0">
                <a:latin typeface="Consolas" panose="020B0609020204030204" pitchFamily="49" charset="0"/>
              </a:rPr>
              <a:t>['</a:t>
            </a:r>
            <a:r>
              <a:rPr lang="en-US" sz="1000" dirty="0" err="1">
                <a:latin typeface="Consolas" panose="020B0609020204030204" pitchFamily="49" charset="0"/>
              </a:rPr>
              <a:t>EEGdat</a:t>
            </a:r>
            <a:r>
              <a:rPr lang="en-US" sz="1000" dirty="0">
                <a:latin typeface="Consolas" panose="020B0609020204030204" pitchFamily="49" charset="0"/>
              </a:rPr>
              <a:t>']</a:t>
            </a:r>
          </a:p>
          <a:p>
            <a:r>
              <a:rPr lang="en-US" sz="1000" dirty="0" err="1">
                <a:latin typeface="Consolas" panose="020B0609020204030204" pitchFamily="49" charset="0"/>
              </a:rPr>
              <a:t>eyedat</a:t>
            </a:r>
            <a:r>
              <a:rPr lang="en-US" sz="1000" dirty="0">
                <a:latin typeface="Consolas" panose="020B0609020204030204" pitchFamily="49" charset="0"/>
              </a:rPr>
              <a:t> = </a:t>
            </a:r>
            <a:r>
              <a:rPr lang="en-US" sz="1000" dirty="0" err="1">
                <a:latin typeface="Consolas" panose="020B0609020204030204" pitchFamily="49" charset="0"/>
              </a:rPr>
              <a:t>matdat</a:t>
            </a:r>
            <a:r>
              <a:rPr lang="en-US" sz="1000" dirty="0">
                <a:latin typeface="Consolas" panose="020B0609020204030204" pitchFamily="49" charset="0"/>
              </a:rPr>
              <a:t>['</a:t>
            </a:r>
            <a:r>
              <a:rPr lang="en-US" sz="1000" dirty="0" err="1">
                <a:latin typeface="Consolas" panose="020B0609020204030204" pitchFamily="49" charset="0"/>
              </a:rPr>
              <a:t>eyedat</a:t>
            </a:r>
            <a:r>
              <a:rPr lang="en-US" sz="1000" dirty="0">
                <a:latin typeface="Consolas" panose="020B0609020204030204" pitchFamily="49" charset="0"/>
              </a:rPr>
              <a:t>']</a:t>
            </a:r>
            <a:endParaRPr lang="en-US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741" y="5228826"/>
            <a:ext cx="4353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завершении построить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спектрограммы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исходного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ЭЭГ,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спектрограмму сигнала артефакта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спектрограмму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очищенного ЭЭГ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52400" y="1548110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Матричная модель линейной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регрессии: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90500" y="2102614"/>
            <a:ext cx="441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г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де </a:t>
            </a:r>
          </a:p>
          <a:p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– вектор ЭЭГ (длина 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T),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– матрица регрессоров размера 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T×m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(обычно первый столбец – единицы для учёта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смещения, затем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сигнал(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ЭОГ),</a:t>
            </a:r>
            <a:br>
              <a:rPr lang="ru-RU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600" b="1" i="1" dirty="0" err="1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– вектор коэффициентов,</a:t>
            </a:r>
            <a:br>
              <a:rPr lang="ru-RU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600" b="1" i="1" dirty="0" err="1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– ошибка (очищенный сигнал).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Оценка коэффициентов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6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методу наименьших квадратов: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73475" y="4876919"/>
            <a:ext cx="21579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Очистка от артефакта: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Стрелка вниз 17"/>
          <p:cNvSpPr/>
          <p:nvPr/>
        </p:nvSpPr>
        <p:spPr>
          <a:xfrm>
            <a:off x="6433185" y="3036570"/>
            <a:ext cx="289560" cy="5867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94012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755</TotalTime>
  <Words>332</Words>
  <Application>Microsoft Office PowerPoint</Application>
  <PresentationFormat>Экран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Слайд 1</vt:lpstr>
      <vt:lpstr>Слайд 2</vt:lpstr>
      <vt:lpstr>Слайд 3</vt:lpstr>
      <vt:lpstr>Слайд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Kozulin</dc:creator>
  <cp:lastModifiedBy>VRLab</cp:lastModifiedBy>
  <cp:revision>239</cp:revision>
  <dcterms:created xsi:type="dcterms:W3CDTF">2022-08-27T14:42:32Z</dcterms:created>
  <dcterms:modified xsi:type="dcterms:W3CDTF">2026-03-26T04:23:53Z</dcterms:modified>
</cp:coreProperties>
</file>